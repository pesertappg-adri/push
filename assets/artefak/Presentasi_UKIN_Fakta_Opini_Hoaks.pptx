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530352"/>
            <a:ext cx="2514600" cy="5715000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932688"/>
            <a:ext cx="1783080" cy="1783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65208" y="1316736"/>
            <a:ext cx="1014984" cy="1014984"/>
          </a:xfrm>
          <a:prstGeom prst="ellipse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65208" y="1289304"/>
            <a:ext cx="101498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ptos Display"/>
              </a:rPr>
              <a:t>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2907792"/>
            <a:ext cx="1965960" cy="804672"/>
          </a:xfrm>
          <a:prstGeom prst="round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304495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43D"/>
                </a:solidFill>
                <a:latin typeface="Aptos"/>
              </a:rPr>
              <a:t>OPINI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3922776"/>
            <a:ext cx="1691640" cy="804672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37192" y="405993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HOAKS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2057400" cy="347472"/>
          </a:xfrm>
          <a:prstGeom prst="round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749808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43D"/>
                </a:solidFill>
                <a:latin typeface="Aptos"/>
              </a:rPr>
              <a:t>VIDEO UKIN • PBL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7680960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FAKTA, OPINI,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DAN HOAKS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57600"/>
            <a:ext cx="72237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8E0EB"/>
                </a:solidFill>
                <a:latin typeface="Aptos"/>
              </a:rPr>
              <a:t>Belajar memilah informasi sebelum percaya dan membagikannya.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690872"/>
            <a:ext cx="914400" cy="54864"/>
          </a:xfrm>
          <a:prstGeom prst="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956048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C857"/>
                </a:solidFill>
                <a:latin typeface="Aptos Display"/>
              </a:rPr>
              <a:t>Informatika Kelas VII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358384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Adri Faisal, S.Kom.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10528"/>
            <a:ext cx="7863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FFC857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PEMBUKAAN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43D"/>
                </a:solidFill>
                <a:latin typeface="Aptos Display"/>
              </a:rPr>
              <a:t>Kita mulai dengan siap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43584"/>
            <a:ext cx="713232" cy="50292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27632"/>
            <a:ext cx="3520440" cy="1344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30352" cy="530352"/>
          </a:xfrm>
          <a:prstGeom prst="roundRect">
            <a:avLst/>
          </a:prstGeom>
          <a:solidFill>
            <a:srgbClr val="D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92807"/>
            <a:ext cx="530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0136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43D"/>
                </a:solidFill>
                <a:latin typeface="Aptos Display"/>
              </a:rPr>
              <a:t>SALAM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12848"/>
            <a:ext cx="2377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084"/>
                </a:solidFill>
                <a:latin typeface="Aptos"/>
              </a:rPr>
              <a:t>Menyapa guru dan teman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27632"/>
            <a:ext cx="3520440" cy="1344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1144" y="1810512"/>
            <a:ext cx="530352" cy="530352"/>
          </a:xfrm>
          <a:prstGeom prst="roundRect">
            <a:avLst/>
          </a:prstGeom>
          <a:solidFill>
            <a:srgbClr val="FFF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892807"/>
            <a:ext cx="530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80136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43D"/>
                </a:solidFill>
                <a:latin typeface="Aptos Display"/>
              </a:rPr>
              <a:t>DOA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212848"/>
            <a:ext cx="2377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084"/>
                </a:solidFill>
                <a:latin typeface="Aptos"/>
              </a:rPr>
              <a:t>Berdoa sebelum belajar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1627632"/>
            <a:ext cx="3520440" cy="1344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03336" y="1810512"/>
            <a:ext cx="530352" cy="530352"/>
          </a:xfrm>
          <a:prstGeom prst="roundRect">
            <a:avLst/>
          </a:prstGeom>
          <a:solidFill>
            <a:srgbClr val="FC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92807"/>
            <a:ext cx="5303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4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801368"/>
            <a:ext cx="2423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43D"/>
                </a:solidFill>
                <a:latin typeface="Aptos Display"/>
              </a:rPr>
              <a:t>PRESENSI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2212848"/>
            <a:ext cx="2377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084"/>
                </a:solidFill>
                <a:latin typeface="Aptos"/>
              </a:rPr>
              <a:t>Memeriksa kehadiran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28416"/>
            <a:ext cx="11064240" cy="246888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3611880"/>
            <a:ext cx="2926080" cy="301752"/>
          </a:xfrm>
          <a:prstGeom prst="round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630168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43D"/>
                </a:solidFill>
                <a:latin typeface="Aptos"/>
              </a:rPr>
              <a:t>MENGULAS MATERI SEBELUMNYA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096512"/>
            <a:ext cx="585216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Aptos Display"/>
              </a:rPr>
              <a:t>Ekosistem media pers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81728"/>
            <a:ext cx="7498079" cy="6858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600" b="0" i="0">
                <a:solidFill>
                  <a:srgbClr val="D8E0EB"/>
                </a:solidFill>
                <a:latin typeface="Aptos"/>
              </a:rPr>
              <a:t>Berita dapat beredar melalui situs berita dan media sosial. Apakah semua informasi yang kita temukan di sana otomatis dapat dipercaya?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0" y="4069080"/>
            <a:ext cx="1261872" cy="1261872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087368"/>
            <a:ext cx="1261872" cy="11978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 Display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486400"/>
            <a:ext cx="777240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000" b="1" i="0">
                <a:solidFill>
                  <a:srgbClr val="FFC857"/>
                </a:solidFill>
                <a:latin typeface="Aptos"/>
              </a:rPr>
              <a:t>Ingat: periksa isi, bukti, dan sumber informasi.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749808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APERSEPSI • AMATI DAN PIKIRKAN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43D"/>
                </a:solidFill>
                <a:latin typeface="Aptos Display"/>
              </a:rPr>
              <a:t>Apa yang bisa kita simpulkan dari poster ini?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43584"/>
            <a:ext cx="713232" cy="50292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36192"/>
            <a:ext cx="4572000" cy="46451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(20261018-1424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51323"/>
            <a:ext cx="4334256" cy="42148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40680" y="1536192"/>
            <a:ext cx="6172200" cy="46451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42432" y="1810512"/>
            <a:ext cx="2331720" cy="329184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1828800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43D"/>
                </a:solidFill>
                <a:latin typeface="Aptos"/>
              </a:rPr>
              <a:t>PERTANYAAN PEMANTIK</a:t>
            </a:r>
          </a:p>
        </p:txBody>
      </p:sp>
      <p:sp>
        <p:nvSpPr>
          <p:cNvPr id="11" name="Oval 10"/>
          <p:cNvSpPr/>
          <p:nvPr/>
        </p:nvSpPr>
        <p:spPr>
          <a:xfrm>
            <a:off x="5742432" y="2404872"/>
            <a:ext cx="438912" cy="438912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241401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386584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2A3B"/>
                </a:solidFill>
                <a:latin typeface="Aptos"/>
              </a:rPr>
              <a:t>Informasi apa pada poster yang dapat diperiksa kebenarannya?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3108960"/>
            <a:ext cx="4572000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42432" y="3483863"/>
            <a:ext cx="438912" cy="438912"/>
          </a:xfrm>
          <a:prstGeom prst="ellipse">
            <a:avLst/>
          </a:prstGeom>
          <a:solidFill>
            <a:srgbClr val="F3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3493007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465576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2A3B"/>
                </a:solidFill>
                <a:latin typeface="Aptos"/>
              </a:rPr>
              <a:t>Kalimat mana yang berisi pendapat atau kesan?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4187952"/>
            <a:ext cx="4572000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42432" y="4562855"/>
            <a:ext cx="438912" cy="438912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2" y="4571999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544568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02A3B"/>
                </a:solidFill>
                <a:latin typeface="Aptos"/>
              </a:rPr>
              <a:t>Bagaimana cara memastikan bahwa promosi tersebut benar?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5696712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47084"/>
                </a:solidFill>
                <a:latin typeface="Aptos"/>
              </a:rPr>
              <a:t>Diskusikan jawaban secara lisan. Kita belum menentukan jawaban bersama.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47104"/>
            <a:ext cx="749808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TUJUAN PEMBELAJARAN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43D"/>
                </a:solidFill>
                <a:latin typeface="Aptos Display"/>
              </a:rPr>
              <a:t>Apa yang akan kita kuasai?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43584"/>
            <a:ext cx="713232" cy="50292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11018520" cy="141732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01368"/>
            <a:ext cx="2304288" cy="283464"/>
          </a:xfrm>
          <a:prstGeom prst="round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9656"/>
            <a:ext cx="21214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243D"/>
                </a:solidFill>
                <a:latin typeface="Aptos"/>
              </a:rPr>
              <a:t>TP • ACUAN PANDUAN GURU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85416"/>
            <a:ext cx="1005840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Peserta didik mampu membedakan antara fakta, opini, dan hoaks dari sebuah informasi.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31012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43D"/>
                </a:solidFill>
                <a:latin typeface="Aptos Display"/>
              </a:rPr>
              <a:t>Setelah pembelajaran, kamu diharapkan mampu: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86200"/>
            <a:ext cx="3493008" cy="1755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" y="4096512"/>
            <a:ext cx="557784" cy="557784"/>
          </a:xfrm>
          <a:prstGeom prst="roundRect">
            <a:avLst/>
          </a:prstGeom>
          <a:solidFill>
            <a:srgbClr val="D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169663"/>
            <a:ext cx="55778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43D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78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600" b="1" i="0">
                <a:solidFill>
                  <a:srgbClr val="18243D"/>
                </a:solidFill>
                <a:latin typeface="Aptos Display"/>
              </a:rPr>
              <a:t>Menganalisis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3017520" cy="6583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350" b="0" i="0">
                <a:solidFill>
                  <a:srgbClr val="647084"/>
                </a:solidFill>
                <a:latin typeface="Aptos"/>
              </a:rPr>
              <a:t>Menganalisis ciri dan perbedaan fakta, opini, dan hoaks.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86200"/>
            <a:ext cx="3493008" cy="1755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4096512"/>
            <a:ext cx="557784" cy="557784"/>
          </a:xfrm>
          <a:prstGeom prst="roundRect">
            <a:avLst/>
          </a:prstGeom>
          <a:solidFill>
            <a:srgbClr val="FC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4169663"/>
            <a:ext cx="55778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43D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0782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43D"/>
                </a:solidFill>
                <a:latin typeface="Aptos Display"/>
              </a:rPr>
              <a:t>Mengelompokkan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800600"/>
            <a:ext cx="3017520" cy="6583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350" b="0" i="0">
                <a:solidFill>
                  <a:srgbClr val="647084"/>
                </a:solidFill>
                <a:latin typeface="Aptos"/>
              </a:rPr>
              <a:t>Mengelompokkan pernyataan dan menjelaskan alasan berdasarkan cirinya.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886200"/>
            <a:ext cx="3493008" cy="1755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85048" y="4096512"/>
            <a:ext cx="557784" cy="557784"/>
          </a:xfrm>
          <a:prstGeom prst="roundRect">
            <a:avLst/>
          </a:prstGeom>
          <a:solidFill>
            <a:srgbClr val="FFF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4169663"/>
            <a:ext cx="55778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43D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078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600" b="1" i="0">
                <a:solidFill>
                  <a:srgbClr val="18243D"/>
                </a:solidFill>
                <a:latin typeface="Aptos Display"/>
              </a:rPr>
              <a:t>Memverifikasi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00600"/>
            <a:ext cx="3017520" cy="6583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350" b="0" i="0">
                <a:solidFill>
                  <a:srgbClr val="647084"/>
                </a:solidFill>
                <a:latin typeface="Aptos"/>
              </a:rPr>
              <a:t>Menentukan bukti dan sumber yang perlu diperiksa sebelum mempercayai atau membagikan informasi.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943600"/>
            <a:ext cx="3749039" cy="310896"/>
          </a:xfrm>
          <a:prstGeom prst="roundRect">
            <a:avLst/>
          </a:prstGeom>
          <a:solidFill>
            <a:srgbClr val="E5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596188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243D"/>
                </a:solidFill>
                <a:latin typeface="Aptos"/>
              </a:rPr>
              <a:t>ELEMEN: LITERASI DIGITAL • FASE D / KELAS VII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47104"/>
            <a:ext cx="749808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SINTAKS 1 • ORIENTASI TERHADAP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3035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2600" b="1" i="0">
                <a:solidFill>
                  <a:srgbClr val="18243D"/>
                </a:solidFill>
                <a:latin typeface="Aptos Display"/>
              </a:rPr>
              <a:t>Promo makanan dan pesan bonus: apa yang perlu dicek?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05 / 12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72768"/>
            <a:ext cx="42519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715000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47084"/>
                </a:solidFill>
                <a:latin typeface="Aptos"/>
              </a:rPr>
              <a:t>POSTER PROMO MAKANAN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0368" y="1581912"/>
            <a:ext cx="6217920" cy="4096512"/>
          </a:xfrm>
          <a:prstGeom prst="roundRect">
            <a:avLst>
              <a:gd name="adj" fmla="val 12000"/>
            </a:avLst>
          </a:prstGeom>
          <a:solidFill>
            <a:srgbClr val="18243D"/>
          </a:solidFill>
          <a:ln w="10160">
            <a:solidFill>
              <a:srgbClr val="18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04688" y="1810512"/>
            <a:ext cx="2560320" cy="27432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1" y="1819656"/>
            <a:ext cx="2450591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PESAN TAMBAHAN • SIMULASI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2212848"/>
            <a:ext cx="55321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 Display"/>
              </a:rPr>
              <a:t>“Bonus Rp500.000 untuk semua pembeli!”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2962656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2880360"/>
            <a:ext cx="523951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E9EEF5"/>
                </a:solidFill>
                <a:latin typeface="Aptos"/>
              </a:rPr>
              <a:t>Pesan meminta penerima membuka tautan dan mengirim kode OTP.</a:t>
            </a:r>
          </a:p>
        </p:txBody>
      </p:sp>
      <p:sp>
        <p:nvSpPr>
          <p:cNvPr id="13" name="Oval 12"/>
          <p:cNvSpPr/>
          <p:nvPr/>
        </p:nvSpPr>
        <p:spPr>
          <a:xfrm>
            <a:off x="5532120" y="3666744"/>
            <a:ext cx="109728" cy="109728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3584448"/>
            <a:ext cx="523951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E9EEF5"/>
                </a:solidFill>
                <a:latin typeface="Aptos"/>
              </a:rPr>
              <a:t>Sumber resmi dan bukti klaim bonus tidak dicantumkan.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4688" y="4453128"/>
            <a:ext cx="5532120" cy="804672"/>
          </a:xfrm>
          <a:prstGeom prst="roundRect">
            <a:avLst>
              <a:gd name="adj" fmla="val 12000"/>
            </a:avLst>
          </a:prstGeom>
          <a:solidFill>
            <a:srgbClr val="263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562856"/>
            <a:ext cx="5212080" cy="5760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Masalah: bagaimana membedakan informasi pada poster dari klaim bonus yang belum terverifikasi?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062472"/>
            <a:ext cx="1074420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647084"/>
                </a:solidFill>
                <a:latin typeface="Aptos"/>
              </a:rPr>
              <a:t>Konteks bonus dan OTP adalah skenario simulasi untuk pembelajaran, bukan bagian dari poster asli.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MATERI INTI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8243D"/>
                </a:solidFill>
                <a:latin typeface="Aptos Display"/>
              </a:rPr>
              <a:t>Fakta, opini, dan hoaks: apa bedanya?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243584"/>
            <a:ext cx="713232" cy="50292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084"/>
                </a:solidFill>
                <a:latin typeface="Aptos"/>
              </a:rPr>
              <a:t>Kenali pengertian, ciri, dan contoh sebelum menentukan kategori informasi.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10512"/>
            <a:ext cx="3456432" cy="4279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10512"/>
            <a:ext cx="3456432" cy="658368"/>
          </a:xfrm>
          <a:prstGeom prst="round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FAKTA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0048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CB7A7"/>
                </a:solidFill>
                <a:latin typeface="Aptos Display"/>
              </a:rPr>
              <a:t>PENGERTIAN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07792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A3B"/>
                </a:solidFill>
                <a:latin typeface="Aptos"/>
              </a:rPr>
              <a:t>Informasi yang dapat diverifikasi secara objektif sebagai kebenaran atau kenyataan.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685032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22191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CB7A7"/>
                </a:solidFill>
                <a:latin typeface="Aptos Display"/>
              </a:rPr>
              <a:t>CIRI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59936"/>
            <a:ext cx="2990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02A3B"/>
                </a:solidFill>
                <a:latin typeface="Aptos"/>
              </a:rPr>
              <a:t>Dapat diperiksa melalui pengamatan, pengukuran, data, atau sumber yang dapat dipercaya.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855464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92624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CB7A7"/>
                </a:solidFill>
                <a:latin typeface="Aptos Display"/>
              </a:rPr>
              <a:t>CONTOH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230368"/>
            <a:ext cx="29900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02A3B"/>
                </a:solidFill>
                <a:latin typeface="Aptos"/>
              </a:rPr>
              <a:t>“Promo 5 potong ayam, harga Rp50.000.”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02A3B"/>
                </a:solidFill>
                <a:latin typeface="Aptos"/>
              </a:rPr>
              <a:t>(Klaim harga dapat diperiksa.)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810512"/>
            <a:ext cx="3456432" cy="4279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9976" y="1810512"/>
            <a:ext cx="3456432" cy="658368"/>
          </a:xfrm>
          <a:prstGeom prst="roundRect">
            <a:avLst/>
          </a:prstGeom>
          <a:solidFill>
            <a:srgbClr val="F3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1938528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243D"/>
                </a:solidFill>
                <a:latin typeface="Aptos Display"/>
              </a:rPr>
              <a:t>OPINI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670048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39BA8"/>
                </a:solidFill>
                <a:latin typeface="Aptos Display"/>
              </a:rPr>
              <a:t>PENGERTIAN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907792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A3B"/>
                </a:solidFill>
                <a:latin typeface="Aptos"/>
              </a:rPr>
              <a:t>Pendapat, pandangan, atau evaluasi subjektif seseorang tentang suatu topik.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3685032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22191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39BA8"/>
                </a:solidFill>
                <a:latin typeface="Aptos Display"/>
              </a:rPr>
              <a:t>CIRI UTAMA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59936"/>
            <a:ext cx="2990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02A3B"/>
                </a:solidFill>
                <a:latin typeface="Aptos"/>
              </a:rPr>
              <a:t>Mencerminkan penilaian pribadi dan dapat berbeda antara satu orang dengan orang lain.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4855464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992624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39BA8"/>
                </a:solidFill>
                <a:latin typeface="Aptos Display"/>
              </a:rPr>
              <a:t>CONTOH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0368"/>
            <a:ext cx="29900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02A3B"/>
                </a:solidFill>
                <a:latin typeface="Aptos"/>
              </a:rPr>
              <a:t>“Nikmatnya tiada dusta.”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202A3B"/>
                </a:solidFill>
                <a:latin typeface="Aptos"/>
              </a:rPr>
              <a:t>“Kriuknya nagih.”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5592" y="1810512"/>
            <a:ext cx="3456432" cy="4279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65592" y="1810512"/>
            <a:ext cx="3456432" cy="658368"/>
          </a:xfrm>
          <a:prstGeom prst="roundRect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938528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 Display"/>
              </a:rPr>
              <a:t>HOAKS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670048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6A4D"/>
                </a:solidFill>
                <a:latin typeface="Aptos Display"/>
              </a:rPr>
              <a:t>PENGERTIAN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907792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A3B"/>
                </a:solidFill>
                <a:latin typeface="Aptos"/>
              </a:rPr>
              <a:t>Informasi palsu, menyesatkan, atau bohong yang disebarkan dengan maksud menipu.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3685032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4" y="3822191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6A4D"/>
                </a:solidFill>
                <a:latin typeface="Aptos Display"/>
              </a:rPr>
              <a:t>CIRI UTAMA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059936"/>
            <a:ext cx="2990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02A3B"/>
                </a:solidFill>
                <a:latin typeface="Aptos"/>
              </a:rPr>
              <a:t>Tidak didukung bukti yang memadai; sumber dan klaimnya perlu diperiksa lebih lanjut.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4855464"/>
            <a:ext cx="2999232" cy="16459"/>
          </a:xfrm>
          <a:prstGeom prst="rect">
            <a:avLst/>
          </a:prstGeom>
          <a:solidFill>
            <a:srgbClr val="D9D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4992624"/>
            <a:ext cx="29900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6A4D"/>
                </a:solidFill>
                <a:latin typeface="Aptos Display"/>
              </a:rPr>
              <a:t>CONTOH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5230368"/>
            <a:ext cx="2990088" cy="65836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r>
              <a:rPr sz="1220" b="0" i="0">
                <a:solidFill>
                  <a:srgbClr val="202A3B"/>
                </a:solidFill>
                <a:latin typeface="Aptos"/>
              </a:rPr>
              <a:t>Klaim bonus Rp500.000 yang meminta OTP pada pesan simulasi; perlu ditolak dan diperiksa sumbernya.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1996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647084"/>
                </a:solidFill>
                <a:latin typeface="Aptos"/>
              </a:rPr>
              <a:t>Catatan: gaya bahasa bombastis dapat menjadi tanda untuk waspada, tetapi klasifikasi tetap perlu didasarkan pada bukti dan pemeriksaan sumber.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455664"/>
            <a:ext cx="97840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47084"/>
                </a:solidFill>
                <a:latin typeface="Aptos"/>
              </a:rPr>
              <a:t>Acuan materi: Buku Siswa Informatika VII Edisi Revisi 2023, hlm. 126–129; Panduan Guru, hlm. 113 dan 129–130.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547104"/>
            <a:ext cx="749808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C857"/>
                </a:solidFill>
                <a:latin typeface="Aptos Display"/>
              </a:rPr>
              <a:t>PENUTUP • REFLEKSI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515600" cy="6126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ptos Display"/>
              </a:rPr>
              <a:t>Sebelum membagikan informasi…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65376"/>
            <a:ext cx="2578608" cy="1417320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84831"/>
            <a:ext cx="411480" cy="411480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2CB7A7"/>
                </a:solidFill>
                <a:latin typeface="Aptos Display"/>
              </a:rPr>
              <a:t>BERHENTI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5176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Jangan langsung percaya.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865376"/>
            <a:ext cx="2578608" cy="1417320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21608" y="2084831"/>
            <a:ext cx="411480" cy="4114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214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05740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C857"/>
                </a:solidFill>
                <a:latin typeface="Aptos Display"/>
              </a:rPr>
              <a:t>PERIKSA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65176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Cek sumber dan bukti.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1865376"/>
            <a:ext cx="2578608" cy="1417320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4536" y="2084831"/>
            <a:ext cx="411480" cy="411480"/>
          </a:xfrm>
          <a:prstGeom prst="ellipse">
            <a:avLst/>
          </a:prstGeom>
          <a:solidFill>
            <a:srgbClr val="F3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21214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05740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39BA8"/>
                </a:solidFill>
                <a:latin typeface="Aptos Display"/>
              </a:rPr>
              <a:t>BANDINGKAN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265176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Cari sumber pembanding.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1865376"/>
            <a:ext cx="2578608" cy="1417320"/>
          </a:xfrm>
          <a:prstGeom prst="roundRect">
            <a:avLst/>
          </a:prstGeom>
          <a:solidFill>
            <a:srgbClr val="23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27463" y="2084831"/>
            <a:ext cx="411480" cy="411480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3" y="21214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43D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6104" y="2057400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6A4D"/>
                </a:solidFill>
                <a:latin typeface="Aptos Display"/>
              </a:rPr>
              <a:t>BARU BAGIKAN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65176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Sebarkan dengan bertanggung jawab.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30752"/>
            <a:ext cx="10908792" cy="1335024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9684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B7A7"/>
                </a:solidFill>
                <a:latin typeface="Aptos Display"/>
              </a:rPr>
              <a:t>REFLEKSI SINGKAT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61104"/>
            <a:ext cx="9875520" cy="8229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450" b="0" i="0">
                <a:solidFill>
                  <a:srgbClr val="18243D"/>
                </a:solidFill>
                <a:latin typeface="Aptos"/>
              </a:rPr>
              <a:t>Simpulan: fakta dapat diperiksa; opini merupakan penilaian subjektif; hoaks adalah informasi palsu atau menyesatkan.</a:t>
            </a:r>
          </a:p>
          <a:p>
            <a:r>
              <a:rPr sz="1450" b="0" i="0">
                <a:solidFill>
                  <a:srgbClr val="18243D"/>
                </a:solidFill>
                <a:latin typeface="Aptos"/>
              </a:rPr>
              <a:t>Refleksi: Apa yang akan kamu lakukan saat menerima informasi yang meragukan?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650992"/>
            <a:ext cx="9418320" cy="4114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Aptos"/>
              </a:rPr>
              <a:t>Terima kasih • Wassalamu’alaikum warahmatullahi wabarakatuh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6492240"/>
            <a:ext cx="786384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D8E0EB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CB7A7"/>
                </a:solidFill>
                <a:latin typeface="Aptos Display"/>
              </a:rPr>
              <a:t>SINTAKS 2 • MENGORGANISASI PESERTA DIDIK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8243D"/>
                </a:solidFill>
                <a:latin typeface="Aptos Display"/>
              </a:rPr>
              <a:t>Susun kelompok dan bagi peran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393192" cy="50292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647084"/>
                </a:solidFill>
                <a:latin typeface="Aptos"/>
              </a:rPr>
              <a:t>5 kelompok • 4 peserta didik per kelompok • waktu 3 menit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039112"/>
            <a:ext cx="402336" cy="402336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48256"/>
            <a:ext cx="40233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87752"/>
            <a:ext cx="2240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8243D"/>
                </a:solidFill>
                <a:latin typeface="Aptos Display"/>
              </a:rPr>
              <a:t>PEMBACA KASUS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44368"/>
            <a:ext cx="224028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47084"/>
                </a:solidFill>
                <a:latin typeface="Aptos"/>
              </a:rPr>
              <a:t>Membaca poster dan pernyataan pada LKPD.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2039112"/>
            <a:ext cx="402336" cy="40233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048256"/>
            <a:ext cx="40233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8243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587752"/>
            <a:ext cx="2240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8243D"/>
                </a:solidFill>
                <a:latin typeface="Aptos Display"/>
              </a:rPr>
              <a:t>PENCATAT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44368"/>
            <a:ext cx="224028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47084"/>
                </a:solidFill>
                <a:latin typeface="Aptos"/>
              </a:rPr>
              <a:t>Menulis kategori dan alasan kelompok.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182880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56832" y="2039112"/>
            <a:ext cx="402336" cy="402336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048256"/>
            <a:ext cx="40233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587752"/>
            <a:ext cx="2240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8243D"/>
                </a:solidFill>
                <a:latin typeface="Aptos Display"/>
              </a:rPr>
              <a:t>PEMERIKSA BUKTI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944368"/>
            <a:ext cx="224028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47084"/>
                </a:solidFill>
                <a:latin typeface="Aptos"/>
              </a:rPr>
              <a:t>Menentukan bukti atau sumber yang perlu diperiksa.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81744" y="182880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64624" y="2039112"/>
            <a:ext cx="402336" cy="402336"/>
          </a:xfrm>
          <a:prstGeom prst="ellipse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4624" y="2048256"/>
            <a:ext cx="40233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587752"/>
            <a:ext cx="2240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8243D"/>
                </a:solidFill>
                <a:latin typeface="Aptos Display"/>
              </a:rPr>
              <a:t>PENYAJI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2944368"/>
            <a:ext cx="224028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647084"/>
                </a:solidFill>
                <a:latin typeface="Aptos"/>
              </a:rPr>
              <a:t>Menyiapkan penjelasan singkat hasil kelompok.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50208"/>
            <a:ext cx="10927080" cy="941832"/>
          </a:xfrm>
          <a:prstGeom prst="roundRect">
            <a:avLst>
              <a:gd name="adj" fmla="val 12000"/>
            </a:avLst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087368"/>
            <a:ext cx="132588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Aptos Display"/>
              </a:rPr>
              <a:t>ALUR KERJA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7712" y="4059936"/>
            <a:ext cx="9006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Baca kasus  →  tentukan kategori  →  tulis alasan  →  sebutkan bukti/sumber yang perlu diperiksa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84648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E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303520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8243D"/>
                </a:solidFill>
                <a:latin typeface="Aptos"/>
              </a:rPr>
              <a:t>Aturan: semua anggota berkontribusi. Jangan hanya menebak kategori—jelaskan alasannya.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CB7A7"/>
                </a:solidFill>
                <a:latin typeface="Aptos Display"/>
              </a:rPr>
              <a:t>SINTAKS 3 • MEMBIMBING INVESTIGASI INDIVIDU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8243D"/>
                </a:solidFill>
                <a:latin typeface="Aptos Display"/>
              </a:rPr>
              <a:t>Latihan cepat: klasifikasikan informasi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393192" cy="50292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647084"/>
                </a:solidFill>
                <a:latin typeface="Aptos"/>
              </a:rPr>
              <a:t>Kerjakan secara individu. Setelah memilih kategori, siapkan alasan singkat.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5321808" cy="3584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29968"/>
            <a:ext cx="1965960" cy="274320"/>
          </a:xfrm>
          <a:prstGeom prst="roundRect">
            <a:avLst>
              <a:gd name="adj" fmla="val 12000"/>
            </a:avLst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39112"/>
            <a:ext cx="1856231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AKTIVITAS 1 • 5 MENIT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18243D"/>
                </a:solidFill>
                <a:latin typeface="Aptos Display"/>
              </a:rPr>
              <a:t>Buku Siswa hlm. 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46177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02A3B"/>
                </a:solidFill>
                <a:latin typeface="Aptos"/>
              </a:rPr>
              <a:t>Klasifikasikan lima pernyataan sebagai: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01568"/>
            <a:ext cx="1170432" cy="274320"/>
          </a:xfrm>
          <a:prstGeom prst="roundRect">
            <a:avLst>
              <a:gd name="adj" fmla="val 12000"/>
            </a:avLst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10712"/>
            <a:ext cx="10607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Display"/>
              </a:rPr>
              <a:t>FAKTA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0008" y="3401568"/>
            <a:ext cx="1170432" cy="274320"/>
          </a:xfrm>
          <a:prstGeom prst="roundRect">
            <a:avLst>
              <a:gd name="adj" fmla="val 12000"/>
            </a:avLst>
          </a:prstGeom>
          <a:solidFill>
            <a:srgbClr val="F3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3410712"/>
            <a:ext cx="10607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8243D"/>
                </a:solidFill>
                <a:latin typeface="Aptos Display"/>
              </a:rPr>
              <a:t>OPINI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85032" y="3401568"/>
            <a:ext cx="1170432" cy="27432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9896" y="3410712"/>
            <a:ext cx="10607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Display"/>
              </a:rPr>
              <a:t>HOAKS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45720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647084"/>
                </a:solidFill>
                <a:latin typeface="Aptos"/>
              </a:rPr>
              <a:t>Pikirkan: apakah klaim bisa diverifikasi, berupa penilaian, atau menyesatkan?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56048"/>
            <a:ext cx="4617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2CB7A7"/>
                </a:solidFill>
                <a:latin typeface="Aptos"/>
              </a:rPr>
              <a:t>Guru membuka file Game Aktivitas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10512"/>
            <a:ext cx="5367528" cy="3584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2029968"/>
            <a:ext cx="2057400" cy="27432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039112"/>
            <a:ext cx="1947672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AKTIVITAS 2 • 5 MENIT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450592"/>
            <a:ext cx="4572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18243D"/>
                </a:solidFill>
                <a:latin typeface="Aptos Display"/>
              </a:rPr>
              <a:t>Buku Siswa hlm. 129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898648"/>
            <a:ext cx="457200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202A3B"/>
                </a:solidFill>
                <a:latin typeface="Aptos"/>
              </a:rPr>
              <a:t>Baca paragraf tentang suhu udara di Bogor. Tentukan kalimat (1)–(4) sebagai: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3712463"/>
            <a:ext cx="1170432" cy="274320"/>
          </a:xfrm>
          <a:prstGeom prst="roundRect">
            <a:avLst>
              <a:gd name="adj" fmla="val 12000"/>
            </a:avLst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3721607"/>
            <a:ext cx="10607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 Display"/>
              </a:rPr>
              <a:t>FAKTA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712463"/>
            <a:ext cx="1170432" cy="274320"/>
          </a:xfrm>
          <a:prstGeom prst="roundRect">
            <a:avLst>
              <a:gd name="adj" fmla="val 12000"/>
            </a:avLst>
          </a:prstGeom>
          <a:solidFill>
            <a:srgbClr val="F3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72984" y="3721607"/>
            <a:ext cx="10607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8243D"/>
                </a:solidFill>
                <a:latin typeface="Aptos Display"/>
              </a:rPr>
              <a:t>OPINI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206240"/>
            <a:ext cx="45720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647084"/>
                </a:solidFill>
                <a:latin typeface="Aptos"/>
              </a:rPr>
              <a:t>Perhatikan perbedaan kesan subjektif dan angka/data yang dapat diperiksa.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956048"/>
            <a:ext cx="4617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6A4D"/>
                </a:solidFill>
                <a:latin typeface="Aptos"/>
              </a:rPr>
              <a:t>Guru membuka file Game Aktivitas 2.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05272"/>
            <a:ext cx="10927080" cy="493776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967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8243D"/>
                </a:solidFill>
                <a:latin typeface="Aptos"/>
              </a:rPr>
              <a:t>Umpan balik: minta beberapa murid menjelaskan alasan, bukan hanya menyebut skor.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CB7A7"/>
                </a:solidFill>
                <a:latin typeface="Aptos Display"/>
              </a:rPr>
              <a:t>SINTAKS 3 • INVESTIGASI KELOMPOK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8243D"/>
                </a:solidFill>
                <a:latin typeface="Aptos Display"/>
              </a:rPr>
              <a:t>LKPD: periksa poster dan pesan tambahan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393192" cy="50292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44168"/>
            <a:ext cx="10698480" cy="301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647084"/>
                </a:solidFill>
                <a:latin typeface="Aptos"/>
              </a:rPr>
              <a:t>Diskusikan dalam kelompok • waktu 10 menit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83080"/>
            <a:ext cx="3858768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596128"/>
            <a:ext cx="38404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647084"/>
                </a:solidFill>
                <a:latin typeface="Aptos"/>
              </a:rPr>
              <a:t>Informasi yang tercantum pada poster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64792"/>
            <a:ext cx="6693408" cy="1207008"/>
          </a:xfrm>
          <a:prstGeom prst="roundRect">
            <a:avLst>
              <a:gd name="adj" fmla="val 12000"/>
            </a:avLst>
          </a:prstGeom>
          <a:solidFill>
            <a:srgbClr val="18243D"/>
          </a:solidFill>
          <a:ln w="10160">
            <a:solidFill>
              <a:srgbClr val="18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56632" y="1929384"/>
            <a:ext cx="1627632" cy="27432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1938527"/>
            <a:ext cx="151790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PESAN SIMULASI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2286000"/>
            <a:ext cx="61264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“Semua pembeli mendapat bonus Rp500.000 jika mengirim kode OTP.”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182112"/>
            <a:ext cx="6693408" cy="2496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3364992"/>
            <a:ext cx="6080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CB7A7"/>
                </a:solidFill>
                <a:latin typeface="Aptos Display"/>
              </a:rPr>
              <a:t>ANALISIS TIGA PERNYATAAN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3749039"/>
            <a:ext cx="283464" cy="283464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749039"/>
            <a:ext cx="283464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730752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202A3B"/>
                </a:solidFill>
                <a:latin typeface="Aptos"/>
              </a:rPr>
              <a:t>“Promo 5 potong ayam, harga Rp50.000.”</a:t>
            </a:r>
          </a:p>
        </p:txBody>
      </p:sp>
      <p:sp>
        <p:nvSpPr>
          <p:cNvPr id="19" name="Oval 18"/>
          <p:cNvSpPr/>
          <p:nvPr/>
        </p:nvSpPr>
        <p:spPr>
          <a:xfrm>
            <a:off x="5074920" y="4251959"/>
            <a:ext cx="283464" cy="283464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251959"/>
            <a:ext cx="283464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8243D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4233672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202A3B"/>
                </a:solidFill>
                <a:latin typeface="Aptos"/>
              </a:rPr>
              <a:t>“Nikmatnya tiada dusta dan kriuknya nagih.”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4754879"/>
            <a:ext cx="283464" cy="283464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754879"/>
            <a:ext cx="283464" cy="2651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4736592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202A3B"/>
                </a:solidFill>
                <a:latin typeface="Aptos"/>
              </a:rPr>
              <a:t>Klaim bonus Rp500.000 yang meminta OTP (simulasi).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5797296"/>
            <a:ext cx="6693408" cy="438912"/>
          </a:xfrm>
          <a:prstGeom prst="roundRect">
            <a:avLst>
              <a:gd name="adj" fmla="val 12000"/>
            </a:avLst>
          </a:prstGeom>
          <a:solidFill>
            <a:srgbClr val="E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1768" y="5870448"/>
            <a:ext cx="6309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 i="0">
                <a:solidFill>
                  <a:srgbClr val="18243D"/>
                </a:solidFill>
                <a:latin typeface="Aptos"/>
              </a:rPr>
              <a:t>Isi kategori + alasan + bukti/sumber yang perlu diperiksa pada LKPD.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CB7A7"/>
                </a:solidFill>
                <a:latin typeface="Aptos Display"/>
              </a:rPr>
              <a:t>SINTAKS 4 • MENGEMBANGKAN DAN MENYAJIKAN HASIL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8243D"/>
                </a:solidFill>
                <a:latin typeface="Aptos Display"/>
              </a:rPr>
              <a:t>Presentasikan hasil analisis kelompok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393192" cy="50292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647084"/>
                </a:solidFill>
                <a:latin typeface="Aptos"/>
              </a:rPr>
              <a:t>Total 16 menit: persiapan 3 menit • presentasi 10 menit • umpan balik 3 menit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167128"/>
            <a:ext cx="438912" cy="438912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38912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39696"/>
            <a:ext cx="23317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8243D"/>
                </a:solidFill>
                <a:latin typeface="Aptos Display"/>
              </a:rPr>
              <a:t>PERSIAPAN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CB7A7"/>
                </a:solidFill>
                <a:latin typeface="Aptos"/>
              </a:rPr>
              <a:t>3 menit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0896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647084"/>
                </a:solidFill>
                <a:latin typeface="Aptos"/>
              </a:rPr>
              <a:t>Periksa kategori dan alasan. Pastikan kelompok menuliskan bukti atau sumber yang perlu dicek.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9202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44568" y="2167128"/>
            <a:ext cx="438912" cy="438912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76272"/>
            <a:ext cx="438912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8243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39696"/>
            <a:ext cx="23317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8243D"/>
                </a:solidFill>
                <a:latin typeface="Aptos Display"/>
              </a:rPr>
              <a:t>PRESENTASI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743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  <a:latin typeface="Aptos"/>
              </a:rPr>
              <a:t>10 menit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10896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647084"/>
                </a:solidFill>
                <a:latin typeface="Aptos"/>
              </a:rPr>
              <a:t>Lima kelompok memaparkan hasil secara singkat (sekitar 2 menit per kelompok).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1920240"/>
            <a:ext cx="33832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2168" y="2167128"/>
            <a:ext cx="438912" cy="438912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176272"/>
            <a:ext cx="438912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39696"/>
            <a:ext cx="23317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8243D"/>
                </a:solidFill>
                <a:latin typeface="Aptos Display"/>
              </a:rPr>
              <a:t>UMPAN 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74320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6A4D"/>
                </a:solidFill>
                <a:latin typeface="Aptos"/>
              </a:rPr>
              <a:t>3 menit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108960"/>
            <a:ext cx="283464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647084"/>
                </a:solidFill>
                <a:latin typeface="Aptos"/>
              </a:rPr>
              <a:t>Kelompok lain menyimak. Guru meluruskan miskonsepsi dan menegaskan perlunya sumber resmi.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36592"/>
            <a:ext cx="10927080" cy="1069848"/>
          </a:xfrm>
          <a:prstGeom prst="roundRect">
            <a:avLst>
              <a:gd name="adj" fmla="val 12000"/>
            </a:avLst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919472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  <a:latin typeface="Aptos Display"/>
              </a:rPr>
              <a:t>SAAT MENJELASKAN HASIL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55464"/>
            <a:ext cx="8183879" cy="4846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Sebutkan kategori → jelaskan alasan → tunjukkan bukti/sumber yang perlu diperiksa.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404104"/>
            <a:ext cx="10058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D8E0EB"/>
                </a:solidFill>
                <a:latin typeface="Aptos"/>
              </a:rPr>
              <a:t>Kelompok lain boleh memberi tanggapan singkat dengan bahasa yang santun.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97840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CB7A7"/>
                </a:solidFill>
                <a:latin typeface="Aptos Display"/>
              </a:rPr>
              <a:t>SINTAKS 5 • MENGANALISIS DAN MENGEVALUASI PEMECAHAN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8243D"/>
                </a:solidFill>
                <a:latin typeface="Aptos Display"/>
              </a:rPr>
              <a:t>Periksa hasil dan uji pemahaman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393192" cy="50292"/>
          </a:xfrm>
          <a:prstGeom prst="rect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64008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47084"/>
                </a:solidFill>
                <a:latin typeface="Aptos"/>
              </a:rPr>
              <a:t>INFORMATIKA • KELAS 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072" y="6501384"/>
            <a:ext cx="758952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850" b="1" i="0">
                <a:solidFill>
                  <a:srgbClr val="647084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5321808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38528"/>
            <a:ext cx="3154680" cy="274320"/>
          </a:xfrm>
          <a:prstGeom prst="roundRect">
            <a:avLst>
              <a:gd name="adj" fmla="val 12000"/>
            </a:avLst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47672"/>
            <a:ext cx="3044952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EVALUASI PEMECAHAN MASALAH • 5 MENIT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26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18243D"/>
                </a:solidFill>
                <a:latin typeface="Aptos Display"/>
              </a:rPr>
              <a:t>Diskusikan kembali: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62656"/>
            <a:ext cx="109728" cy="109728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880360"/>
            <a:ext cx="432511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50" b="0" i="0">
                <a:solidFill>
                  <a:srgbClr val="202A3B"/>
                </a:solidFill>
                <a:latin typeface="Aptos"/>
              </a:rPr>
              <a:t>Apakah kategori setiap pernyataan sudah disertai alasan?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75304"/>
            <a:ext cx="4325112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50" b="0" i="0">
                <a:solidFill>
                  <a:srgbClr val="202A3B"/>
                </a:solidFill>
                <a:latin typeface="Aptos"/>
              </a:rPr>
              <a:t>Bukti atau sumber apa yang harus diperiksa untuk memastikan promo benar-benar berlaku?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89704"/>
            <a:ext cx="109728" cy="109728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407408"/>
            <a:ext cx="432511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50" b="0" i="0">
                <a:solidFill>
                  <a:srgbClr val="202A3B"/>
                </a:solidFill>
                <a:latin typeface="Aptos"/>
              </a:rPr>
              <a:t>Apa tindakan aman saat pesan meminta kode OTP?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19072"/>
            <a:ext cx="5367528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1938528"/>
            <a:ext cx="2240280" cy="27432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1947672"/>
            <a:ext cx="2130552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KUIS FORMATIF • 5 MENIT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23160"/>
            <a:ext cx="45720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18243D"/>
                </a:solidFill>
                <a:latin typeface="Aptos Display"/>
              </a:rPr>
              <a:t>Jawab 5 soal singkat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944368"/>
            <a:ext cx="310896" cy="310896"/>
          </a:xfrm>
          <a:prstGeom prst="ellipse">
            <a:avLst/>
          </a:prstGeom>
          <a:solidFill>
            <a:srgbClr val="2C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44368"/>
            <a:ext cx="31089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907792"/>
            <a:ext cx="4069080" cy="4846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202A3B"/>
                </a:solidFill>
                <a:latin typeface="Aptos"/>
              </a:rPr>
              <a:t>Apa kategori kalimat “kriuknya nagih”?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566160"/>
            <a:ext cx="310896" cy="31089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31089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8243D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529584"/>
            <a:ext cx="4069080" cy="4846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202A3B"/>
                </a:solidFill>
                <a:latin typeface="Aptos"/>
              </a:rPr>
              <a:t>Apakah tulisan harga pada poster memastikan promo masih berlaku?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187952"/>
            <a:ext cx="310896" cy="310896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310896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151376"/>
            <a:ext cx="4069080" cy="4846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202A3B"/>
                </a:solidFill>
                <a:latin typeface="Aptos"/>
              </a:rPr>
              <a:t>Apa yang perlu dilakukan pada pesan yang meminta OTP?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927080" cy="576072"/>
          </a:xfrm>
          <a:prstGeom prst="roundRect">
            <a:avLst>
              <a:gd name="adj" fmla="val 12000"/>
            </a:avLst>
          </a:prstGeom>
          <a:solidFill>
            <a:srgbClr val="FFF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8756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8243D"/>
                </a:solidFill>
                <a:latin typeface="Aptos"/>
              </a:rPr>
              <a:t>Penguatan guru: tulisan pada poster dapat diidentifikasi, tetapi masa berlaku promo harus dicek melalui sumber resmi.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Fakta, Opini, dan Hoaks — Informatika Kelas VII</dc:title>
  <dc:subject>Presentasi pembelajaran UKIN PPG dengan model Problem Based Learning</dc:subject>
  <dc:creator>Adri Faisal, S.Kom.</dc:creator>
  <cp:keywords>Informatika, kelas VII, fakta, opini, hoaks, PBL, UKIN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